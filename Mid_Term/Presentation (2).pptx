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ummus"/>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01"/>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Bowl of pappardelle pasta with parsley butter, roasted hazelnuts, and shaved parmesan cheese"/>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7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74"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8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84"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01"/>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8"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45" name="Bowl with salmon cakes, salad, and hummus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4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47"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owl of salad with fried rice, boiled eggs, and chopsticks"/>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55" name="01"/>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01"/>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jpe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Predictive Analytics for Enhanced Customer…"/>
          <p:cNvSpPr txBox="1"/>
          <p:nvPr/>
        </p:nvSpPr>
        <p:spPr>
          <a:xfrm>
            <a:off x="3962400" y="24711"/>
            <a:ext cx="15011400" cy="157617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ctr">
              <a:lnSpc>
                <a:spcPct val="30000"/>
              </a:lnSpc>
              <a:defRPr b="1" sz="4500"/>
            </a:pPr>
            <a:r>
              <a:t>Predictive Analytics for Enhanced Customer</a:t>
            </a:r>
          </a:p>
          <a:p>
            <a:pPr algn="ctr">
              <a:lnSpc>
                <a:spcPct val="30000"/>
              </a:lnSpc>
              <a:defRPr b="1" sz="4500"/>
            </a:pPr>
            <a:r>
              <a:t> Engagement: A Data-Driven Approach</a:t>
            </a:r>
          </a:p>
        </p:txBody>
      </p:sp>
      <p:sp>
        <p:nvSpPr>
          <p:cNvPr id="172" name="Mid-term presentation of Major Project submitted…"/>
          <p:cNvSpPr txBox="1"/>
          <p:nvPr/>
        </p:nvSpPr>
        <p:spPr>
          <a:xfrm>
            <a:off x="5571363" y="1626006"/>
            <a:ext cx="11793475" cy="198038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ctr">
              <a:lnSpc>
                <a:spcPct val="10000"/>
              </a:lnSpc>
              <a:defRPr sz="3000"/>
            </a:pPr>
            <a:r>
              <a:t>Mid-term presentation of Major Project submitted </a:t>
            </a:r>
          </a:p>
          <a:p>
            <a:pPr algn="ctr">
              <a:lnSpc>
                <a:spcPct val="50000"/>
              </a:lnSpc>
              <a:defRPr sz="3000"/>
            </a:pPr>
            <a:r>
              <a:t>in partial fulfilment of the requirements for the award of the degree of</a:t>
            </a:r>
          </a:p>
        </p:txBody>
      </p:sp>
      <p:pic>
        <p:nvPicPr>
          <p:cNvPr id="173" name="Your Photo.png" descr="Your Photo.png"/>
          <p:cNvPicPr>
            <a:picLocks noChangeAspect="1"/>
          </p:cNvPicPr>
          <p:nvPr/>
        </p:nvPicPr>
        <p:blipFill>
          <a:blip r:embed="rId2">
            <a:extLst/>
          </a:blip>
          <a:srcRect l="0" t="0" r="103" b="104"/>
          <a:stretch>
            <a:fillRect/>
          </a:stretch>
        </p:blipFill>
        <p:spPr>
          <a:xfrm>
            <a:off x="9294044" y="9766645"/>
            <a:ext cx="1325513" cy="1331538"/>
          </a:xfrm>
          <a:prstGeom prst="rect">
            <a:avLst/>
          </a:prstGeom>
          <a:ln w="12700">
            <a:miter lim="400000"/>
          </a:ln>
        </p:spPr>
      </p:pic>
      <p:sp>
        <p:nvSpPr>
          <p:cNvPr id="174" name="BACHELOR OF TECHNOLOGY…"/>
          <p:cNvSpPr txBox="1"/>
          <p:nvPr/>
        </p:nvSpPr>
        <p:spPr>
          <a:xfrm>
            <a:off x="6546850" y="2878916"/>
            <a:ext cx="9613900" cy="249716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ctr">
              <a:lnSpc>
                <a:spcPct val="10000"/>
              </a:lnSpc>
              <a:defRPr b="1" sz="3300"/>
            </a:pPr>
            <a:r>
              <a:t>BACHELOR OF TECHNOLOGY</a:t>
            </a:r>
          </a:p>
          <a:p>
            <a:pPr algn="ctr">
              <a:lnSpc>
                <a:spcPct val="10000"/>
              </a:lnSpc>
              <a:defRPr b="1" sz="3300"/>
            </a:pPr>
            <a:r>
              <a:t> IN</a:t>
            </a:r>
          </a:p>
          <a:p>
            <a:pPr algn="ctr">
              <a:lnSpc>
                <a:spcPct val="10000"/>
              </a:lnSpc>
              <a:defRPr b="1" sz="3300"/>
            </a:pPr>
            <a:r>
              <a:t>BIOTECHNOLOGY</a:t>
            </a:r>
          </a:p>
        </p:txBody>
      </p:sp>
      <p:sp>
        <p:nvSpPr>
          <p:cNvPr id="175" name="Department of Bioengineering and Biotechnology…"/>
          <p:cNvSpPr txBox="1"/>
          <p:nvPr/>
        </p:nvSpPr>
        <p:spPr>
          <a:xfrm>
            <a:off x="7255211" y="11049838"/>
            <a:ext cx="8908378" cy="279232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ctr">
              <a:lnSpc>
                <a:spcPct val="40000"/>
              </a:lnSpc>
              <a:defRPr sz="3100"/>
            </a:pPr>
            <a:r>
              <a:t>Department of Bioengineering and Biotechnology </a:t>
            </a:r>
          </a:p>
          <a:p>
            <a:pPr algn="ctr">
              <a:lnSpc>
                <a:spcPct val="40000"/>
              </a:lnSpc>
              <a:defRPr sz="3100"/>
            </a:pPr>
            <a:r>
              <a:t>Birla Institute of Technology, Mesra </a:t>
            </a:r>
          </a:p>
          <a:p>
            <a:pPr algn="ctr">
              <a:lnSpc>
                <a:spcPct val="20000"/>
              </a:lnSpc>
              <a:defRPr sz="3100"/>
            </a:pPr>
            <a:r>
              <a:t>Ranchi - 835215, Jharkhand</a:t>
            </a:r>
          </a:p>
          <a:p>
            <a:pPr algn="ctr">
              <a:defRPr sz="3100"/>
            </a:pPr>
            <a:r>
              <a:t>SP-2026</a:t>
            </a:r>
          </a:p>
        </p:txBody>
      </p:sp>
      <p:sp>
        <p:nvSpPr>
          <p:cNvPr id="176" name="Under the Supervision of…"/>
          <p:cNvSpPr txBox="1"/>
          <p:nvPr/>
        </p:nvSpPr>
        <p:spPr>
          <a:xfrm>
            <a:off x="6858000" y="5530609"/>
            <a:ext cx="9702800" cy="445818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ctr">
              <a:lnSpc>
                <a:spcPct val="10000"/>
              </a:lnSpc>
              <a:defRPr sz="3000"/>
            </a:pPr>
            <a:r>
              <a:t>Under the Supervision of</a:t>
            </a:r>
          </a:p>
          <a:p>
            <a:pPr algn="ctr">
              <a:lnSpc>
                <a:spcPct val="20000"/>
              </a:lnSpc>
              <a:defRPr b="1" sz="3000"/>
            </a:pPr>
            <a:r>
              <a:t>Ms. Lakshmi Narayanan P.</a:t>
            </a:r>
          </a:p>
          <a:p>
            <a:pPr algn="ctr">
              <a:lnSpc>
                <a:spcPct val="20000"/>
              </a:lnSpc>
              <a:defRPr sz="3000"/>
            </a:pPr>
            <a:r>
              <a:t>( Chief Data Scientist)</a:t>
            </a:r>
          </a:p>
          <a:p>
            <a:pPr algn="ctr">
              <a:lnSpc>
                <a:spcPct val="10000"/>
              </a:lnSpc>
              <a:defRPr sz="3000"/>
            </a:pPr>
            <a:r>
              <a:t>Innovate </a:t>
            </a:r>
          </a:p>
          <a:p>
            <a:pPr algn="ctr">
              <a:lnSpc>
                <a:spcPct val="10000"/>
              </a:lnSpc>
              <a:defRPr sz="3000"/>
            </a:pPr>
            <a:r>
              <a:t>&amp;</a:t>
            </a:r>
          </a:p>
          <a:p>
            <a:pPr algn="ctr">
              <a:lnSpc>
                <a:spcPct val="20000"/>
              </a:lnSpc>
              <a:defRPr sz="3000"/>
            </a:pPr>
            <a:r>
              <a:t>Internal Guide</a:t>
            </a:r>
          </a:p>
          <a:p>
            <a:pPr algn="ctr">
              <a:defRPr b="1" sz="3000"/>
            </a:pPr>
            <a:r>
              <a:t>Dr. DM Pandey</a:t>
            </a:r>
          </a:p>
        </p:txBody>
      </p:sp>
      <p:sp>
        <p:nvSpPr>
          <p:cNvPr id="177" name="by…"/>
          <p:cNvSpPr txBox="1"/>
          <p:nvPr/>
        </p:nvSpPr>
        <p:spPr>
          <a:xfrm>
            <a:off x="8752998" y="4555759"/>
            <a:ext cx="5430204" cy="170888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ctr">
              <a:lnSpc>
                <a:spcPct val="10000"/>
              </a:lnSpc>
              <a:defRPr sz="2500"/>
            </a:pPr>
            <a:r>
              <a:t>by</a:t>
            </a:r>
          </a:p>
          <a:p>
            <a:pPr algn="ctr">
              <a:lnSpc>
                <a:spcPct val="10000"/>
              </a:lnSpc>
              <a:defRPr b="1" sz="2500"/>
            </a:pPr>
            <a:r>
              <a:t> NIKHIL KUMAR [BTECH/10883/22]</a:t>
            </a:r>
          </a:p>
        </p:txBody>
      </p:sp>
      <p:pic>
        <p:nvPicPr>
          <p:cNvPr id="178" name="unnamed.jpg" descr="unnamed.jpg"/>
          <p:cNvPicPr>
            <a:picLocks noChangeAspect="1"/>
          </p:cNvPicPr>
          <p:nvPr/>
        </p:nvPicPr>
        <p:blipFill>
          <a:blip r:embed="rId3">
            <a:extLst/>
          </a:blip>
          <a:srcRect l="0" t="0" r="0" b="0"/>
          <a:stretch>
            <a:fillRect/>
          </a:stretch>
        </p:blipFill>
        <p:spPr>
          <a:xfrm>
            <a:off x="11132277" y="10014325"/>
            <a:ext cx="4227646" cy="1007866"/>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0" name="image.png" descr="image.png"/>
          <p:cNvPicPr>
            <a:picLocks noChangeAspect="1"/>
          </p:cNvPicPr>
          <p:nvPr/>
        </p:nvPicPr>
        <p:blipFill>
          <a:blip r:embed="rId2">
            <a:extLst/>
          </a:blip>
          <a:stretch>
            <a:fillRect/>
          </a:stretch>
        </p:blipFill>
        <p:spPr>
          <a:xfrm>
            <a:off x="8057461" y="2540"/>
            <a:ext cx="9539078" cy="13589001"/>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COMPANY OVERVIEW"/>
          <p:cNvSpPr txBox="1"/>
          <p:nvPr/>
        </p:nvSpPr>
        <p:spPr>
          <a:xfrm>
            <a:off x="8811310" y="484784"/>
            <a:ext cx="6380380"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a:lstStyle>
          <a:p>
            <a:pPr/>
            <a:r>
              <a:t>COMPANY OVERVIEW</a:t>
            </a:r>
          </a:p>
        </p:txBody>
      </p:sp>
      <p:sp>
        <p:nvSpPr>
          <p:cNvPr id="183" name="Line"/>
          <p:cNvSpPr/>
          <p:nvPr/>
        </p:nvSpPr>
        <p:spPr>
          <a:xfrm>
            <a:off x="349034" y="1231112"/>
            <a:ext cx="23609229" cy="115918"/>
          </a:xfrm>
          <a:prstGeom prst="line">
            <a:avLst/>
          </a:prstGeom>
          <a:ln w="25400">
            <a:solidFill>
              <a:srgbClr val="000000"/>
            </a:solidFill>
            <a:miter lim="400000"/>
          </a:ln>
        </p:spPr>
        <p:txBody>
          <a:bodyPr lIns="50800" tIns="50800" rIns="50800" bIns="50800" anchor="ctr"/>
          <a:lstStyle/>
          <a:p>
            <a:pPr/>
          </a:p>
        </p:txBody>
      </p:sp>
      <p:sp>
        <p:nvSpPr>
          <p:cNvPr id="184" name="At Innovate, we believe that &quot;early-stage startups don’t fail because of lack of ideas - they fail because of execution gaps and operational bottlenecks.&quot;…"/>
          <p:cNvSpPr txBox="1"/>
          <p:nvPr/>
        </p:nvSpPr>
        <p:spPr>
          <a:xfrm>
            <a:off x="342900" y="3126557"/>
            <a:ext cx="23698200" cy="1000288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4600"/>
            </a:pPr>
            <a:r>
              <a:t>At Innovate, we believe that "early-stage startups don’t fail because of lack of ideas - they fail because of execution gaps and operational bottlenecks."</a:t>
            </a:r>
          </a:p>
          <a:p>
            <a:pPr>
              <a:defRPr sz="4600"/>
            </a:pPr>
            <a:r>
              <a:t>We are a startup built to help other startups grow.</a:t>
            </a:r>
          </a:p>
          <a:p>
            <a:pPr>
              <a:defRPr sz="4600"/>
            </a:pPr>
            <a:r>
              <a:t>Our mission is simple: support small and early-stage startups in solving their real business problems through a bottom-neck approach - identifying the exact operational, technical, or strategic bottlenecks that slow down growth and fixing them with practical solutions.</a:t>
            </a:r>
          </a:p>
          <a:p>
            <a:pPr>
              <a:defRPr sz="4600"/>
            </a:pPr>
            <a:r>
              <a:t>We work closely with founders to understand their challenges across areas such as product development, operations, data analysis, technology implementation, and business strategy. Instead of offering generic advice, we focus on hands-on problem solving and execution.</a:t>
            </a:r>
          </a:p>
          <a:p>
            <a:pPr>
              <a:defRPr sz="4600"/>
            </a:pPr>
            <a:r>
              <a:t>Innovate  operates as a collaborative platform of engineers, analysts, and problem solvers who work together to help startups move faster, build better systems, and scale efficiently.</a:t>
            </a:r>
          </a:p>
        </p:txBody>
      </p:sp>
      <p:pic>
        <p:nvPicPr>
          <p:cNvPr id="185" name="unnamed.jpg" descr="unnamed.jpg"/>
          <p:cNvPicPr>
            <a:picLocks noChangeAspect="1"/>
          </p:cNvPicPr>
          <p:nvPr/>
        </p:nvPicPr>
        <p:blipFill>
          <a:blip r:embed="rId2">
            <a:extLst/>
          </a:blip>
          <a:stretch>
            <a:fillRect/>
          </a:stretch>
        </p:blipFill>
        <p:spPr>
          <a:xfrm>
            <a:off x="510108" y="1384300"/>
            <a:ext cx="7298284" cy="1739900"/>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Responsibilities In Company"/>
          <p:cNvSpPr txBox="1"/>
          <p:nvPr/>
        </p:nvSpPr>
        <p:spPr>
          <a:xfrm>
            <a:off x="7995018" y="345084"/>
            <a:ext cx="7859879"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a:lstStyle>
          <a:p>
            <a:pPr/>
            <a:r>
              <a:t>Responsibilities In Company</a:t>
            </a:r>
          </a:p>
        </p:txBody>
      </p:sp>
      <p:sp>
        <p:nvSpPr>
          <p:cNvPr id="188" name="Line"/>
          <p:cNvSpPr/>
          <p:nvPr/>
        </p:nvSpPr>
        <p:spPr>
          <a:xfrm>
            <a:off x="349034" y="1231112"/>
            <a:ext cx="23609229" cy="115918"/>
          </a:xfrm>
          <a:prstGeom prst="line">
            <a:avLst/>
          </a:prstGeom>
          <a:ln w="25400">
            <a:solidFill>
              <a:srgbClr val="000000"/>
            </a:solidFill>
            <a:miter lim="400000"/>
          </a:ln>
        </p:spPr>
        <p:txBody>
          <a:bodyPr lIns="50800" tIns="50800" rIns="50800" bIns="50800" anchor="ctr"/>
          <a:lstStyle/>
          <a:p>
            <a:pPr/>
          </a:p>
        </p:txBody>
      </p:sp>
      <p:sp>
        <p:nvSpPr>
          <p:cNvPr id="189" name="Key Responsibilities:…"/>
          <p:cNvSpPr txBox="1"/>
          <p:nvPr/>
        </p:nvSpPr>
        <p:spPr>
          <a:xfrm>
            <a:off x="685800" y="5097400"/>
            <a:ext cx="23698200" cy="7509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b="1" sz="4100"/>
            </a:pPr>
            <a:r>
              <a:t>Key Responsibilities:</a:t>
            </a:r>
          </a:p>
          <a:p>
            <a:pPr marL="520700" indent="-520700">
              <a:buSzPct val="123000"/>
              <a:buChar char="•"/>
              <a:defRPr sz="4100"/>
            </a:pPr>
            <a:r>
              <a:t>Analyzed startup business and operational data to identify growth bottlenecks and inefficiencies.</a:t>
            </a:r>
          </a:p>
          <a:p>
            <a:pPr marL="520700" indent="-520700">
              <a:buSzPct val="123000"/>
              <a:buChar char="•"/>
              <a:defRPr sz="4100"/>
            </a:pPr>
            <a:r>
              <a:t>Built data-driven solutions and analytical models to support startup decision-making and process optimization.</a:t>
            </a:r>
          </a:p>
          <a:p>
            <a:pPr marL="520700" indent="-520700">
              <a:buSzPct val="123000"/>
              <a:buChar char="•"/>
              <a:defRPr sz="4100"/>
            </a:pPr>
            <a:r>
              <a:t>Collaborated with developers to design and implement modern data-driven applications.</a:t>
            </a:r>
          </a:p>
          <a:p>
            <a:pPr marL="520700" indent="-520700">
              <a:buSzPct val="123000"/>
              <a:buChar char="•"/>
              <a:defRPr sz="4100"/>
            </a:pPr>
            <a:r>
              <a:t>Assisted in deployment and troubleshooting of analytics workflows and tools used in startup problem solving.</a:t>
            </a:r>
          </a:p>
          <a:p>
            <a:pPr marL="520700" indent="-520700">
              <a:buSzPct val="123000"/>
              <a:buChar char="•"/>
              <a:defRPr sz="4100"/>
            </a:pPr>
            <a:r>
              <a:t>Researched emerging trends in data science, analytics, and AI to improve startup solutions.</a:t>
            </a:r>
          </a:p>
        </p:txBody>
      </p:sp>
      <p:pic>
        <p:nvPicPr>
          <p:cNvPr id="190" name="unnamed.jpg" descr="unnamed.jpg"/>
          <p:cNvPicPr>
            <a:picLocks noChangeAspect="1"/>
          </p:cNvPicPr>
          <p:nvPr/>
        </p:nvPicPr>
        <p:blipFill>
          <a:blip r:embed="rId2">
            <a:extLst/>
          </a:blip>
          <a:stretch>
            <a:fillRect/>
          </a:stretch>
        </p:blipFill>
        <p:spPr>
          <a:xfrm>
            <a:off x="510108" y="1384300"/>
            <a:ext cx="7298284" cy="1739900"/>
          </a:xfrm>
          <a:prstGeom prst="rect">
            <a:avLst/>
          </a:prstGeom>
          <a:ln w="12700">
            <a:miter lim="400000"/>
          </a:ln>
        </p:spPr>
      </p:pic>
      <p:sp>
        <p:nvSpPr>
          <p:cNvPr id="191" name="My Role : Data Science &amp; Analytics Intern"/>
          <p:cNvSpPr txBox="1"/>
          <p:nvPr/>
        </p:nvSpPr>
        <p:spPr>
          <a:xfrm>
            <a:off x="685800" y="3665151"/>
            <a:ext cx="23698200" cy="72149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4100"/>
            </a:pPr>
            <a:r>
              <a:rPr b="1"/>
              <a:t>My Role</a:t>
            </a:r>
            <a:r>
              <a:t> : Data Science &amp; Analytics Intern</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PROJECT OBJECTIVE"/>
          <p:cNvSpPr txBox="1"/>
          <p:nvPr/>
        </p:nvSpPr>
        <p:spPr>
          <a:xfrm>
            <a:off x="8850934" y="484784"/>
            <a:ext cx="6301132"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a:lstStyle>
          <a:p>
            <a:pPr/>
            <a:r>
              <a:t>PROJECT OBJECTIVE</a:t>
            </a:r>
          </a:p>
        </p:txBody>
      </p:sp>
      <p:sp>
        <p:nvSpPr>
          <p:cNvPr id="194" name="Line"/>
          <p:cNvSpPr/>
          <p:nvPr/>
        </p:nvSpPr>
        <p:spPr>
          <a:xfrm>
            <a:off x="349034" y="1231112"/>
            <a:ext cx="23609229" cy="115918"/>
          </a:xfrm>
          <a:prstGeom prst="line">
            <a:avLst/>
          </a:prstGeom>
          <a:ln w="25400">
            <a:solidFill>
              <a:srgbClr val="000000"/>
            </a:solidFill>
            <a:miter lim="400000"/>
          </a:ln>
        </p:spPr>
        <p:txBody>
          <a:bodyPr lIns="50800" tIns="50800" rIns="50800" bIns="50800" anchor="ctr"/>
          <a:lstStyle/>
          <a:p>
            <a:pPr/>
          </a:p>
        </p:txBody>
      </p:sp>
      <p:sp>
        <p:nvSpPr>
          <p:cNvPr id="195" name="Analyze the end-to-end lead and store operations, create a dashboard, and tell a clear story with insights and recommendations."/>
          <p:cNvSpPr txBox="1"/>
          <p:nvPr/>
        </p:nvSpPr>
        <p:spPr>
          <a:xfrm>
            <a:off x="723900" y="2507675"/>
            <a:ext cx="18884900" cy="146165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Analyze the end-to-end lead and store operations, create a dashboard, and tell a clear story with insights and recommendations. </a:t>
            </a:r>
          </a:p>
        </p:txBody>
      </p:sp>
      <p:sp>
        <p:nvSpPr>
          <p:cNvPr id="196" name="Background:…"/>
          <p:cNvSpPr txBox="1"/>
          <p:nvPr/>
        </p:nvSpPr>
        <p:spPr>
          <a:xfrm>
            <a:off x="723900" y="5107096"/>
            <a:ext cx="23329900" cy="522900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rPr b="1"/>
              <a:t>Background</a:t>
            </a:r>
            <a:r>
              <a:t>: </a:t>
            </a:r>
          </a:p>
          <a:p>
            <a:pPr/>
            <a:r>
              <a:t>ElectricPe operates Mobility Centres that connect customers to top electric 2-wheeler brands. Efficient management of leads, pre-bookings, bookings, deliveries, cancellations, and service follow-ups is critical for maximizing conversions and customer satisfaction. </a:t>
            </a:r>
          </a:p>
        </p:txBody>
      </p:sp>
      <p:sp>
        <p:nvSpPr>
          <p:cNvPr id="197" name="Aim:…"/>
          <p:cNvSpPr txBox="1"/>
          <p:nvPr/>
        </p:nvSpPr>
        <p:spPr>
          <a:xfrm>
            <a:off x="723900" y="9598471"/>
            <a:ext cx="23601579" cy="269785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rPr b="1"/>
              <a:t>Aim</a:t>
            </a:r>
            <a:r>
              <a:t>: </a:t>
            </a:r>
          </a:p>
          <a:p>
            <a:pPr/>
            <a:r>
              <a:t>Build a data-driven dashboard that helps management optimize lead conversions and overall operational efficiency</a:t>
            </a:r>
          </a:p>
        </p:txBody>
      </p:sp>
      <p:pic>
        <p:nvPicPr>
          <p:cNvPr id="198" name="image.png" descr="image.png"/>
          <p:cNvPicPr>
            <a:picLocks noChangeAspect="1"/>
          </p:cNvPicPr>
          <p:nvPr/>
        </p:nvPicPr>
        <p:blipFill>
          <a:blip r:embed="rId2">
            <a:extLst/>
          </a:blip>
          <a:stretch>
            <a:fillRect/>
          </a:stretch>
        </p:blipFill>
        <p:spPr>
          <a:xfrm>
            <a:off x="20346354" y="1549400"/>
            <a:ext cx="3701648" cy="4851400"/>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Technical Stack &amp; Design"/>
          <p:cNvSpPr txBox="1"/>
          <p:nvPr/>
        </p:nvSpPr>
        <p:spPr>
          <a:xfrm>
            <a:off x="8506206" y="484784"/>
            <a:ext cx="6990589"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a:lstStyle>
          <a:p>
            <a:pPr/>
            <a:r>
              <a:t>Technical Stack &amp; Design</a:t>
            </a:r>
          </a:p>
        </p:txBody>
      </p:sp>
      <p:sp>
        <p:nvSpPr>
          <p:cNvPr id="201" name="Line"/>
          <p:cNvSpPr/>
          <p:nvPr/>
        </p:nvSpPr>
        <p:spPr>
          <a:xfrm>
            <a:off x="349034" y="1231112"/>
            <a:ext cx="23609229" cy="115918"/>
          </a:xfrm>
          <a:prstGeom prst="line">
            <a:avLst/>
          </a:prstGeom>
          <a:ln w="25400">
            <a:solidFill>
              <a:srgbClr val="000000"/>
            </a:solidFill>
            <a:miter lim="400000"/>
          </a:ln>
        </p:spPr>
        <p:txBody>
          <a:bodyPr lIns="50800" tIns="50800" rIns="50800" bIns="50800" anchor="ctr"/>
          <a:lstStyle/>
          <a:p>
            <a:pPr/>
          </a:p>
        </p:txBody>
      </p:sp>
      <p:sp>
        <p:nvSpPr>
          <p:cNvPr id="202" name="Core Tool: Microsoft Excel (for data cleaning, analysis, and dashboard creation)…"/>
          <p:cNvSpPr txBox="1"/>
          <p:nvPr/>
        </p:nvSpPr>
        <p:spPr>
          <a:xfrm>
            <a:off x="190500" y="1824375"/>
            <a:ext cx="23926800" cy="823845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609600" indent="-609600">
              <a:buSzPct val="123000"/>
              <a:buChar char="•"/>
            </a:pPr>
            <a:r>
              <a:t>Core Tool: Microsoft Excel (for data cleaning, analysis, and dashboard creation)</a:t>
            </a:r>
          </a:p>
          <a:p>
            <a:pPr marL="609600" indent="-609600">
              <a:buSzPct val="123000"/>
              <a:buChar char="•"/>
            </a:pPr>
            <a:r>
              <a:t>Key Features Used:</a:t>
            </a:r>
          </a:p>
          <a:p>
            <a:pPr marL="889000" indent="-889000">
              <a:buSzPct val="100000"/>
              <a:buAutoNum type="arabicPeriod" startAt="1"/>
            </a:pPr>
            <a:r>
              <a:t>Pivot Tables &amp; Slicers: For interactive filtering and KPI generation</a:t>
            </a:r>
          </a:p>
          <a:p>
            <a:pPr marL="889000" indent="-889000">
              <a:buSzPct val="100000"/>
              <a:buAutoNum type="arabicPeriod" startAt="1"/>
            </a:pPr>
            <a:r>
              <a:t>Power Query: For data transformation and cleaning</a:t>
            </a:r>
          </a:p>
          <a:p>
            <a:pPr marL="889000" indent="-889000">
              <a:buSzPct val="100000"/>
              <a:buAutoNum type="arabicPeriod" startAt="1"/>
            </a:pPr>
            <a:r>
              <a:t>Conditional Formatting: For highlighting high-potential leads</a:t>
            </a:r>
          </a:p>
          <a:p>
            <a:pPr marL="609600" indent="-609600">
              <a:buSzPct val="123000"/>
              <a:buChar char="•"/>
            </a:pPr>
            <a:r>
              <a:t>Design Theme: Clean, Modern, and Executive, featuring a Light Gray background, an Electric Green to Lime header gradient, and specific accent colors (Blue, Orange, Green).</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Key Metrics Tracked"/>
          <p:cNvSpPr txBox="1"/>
          <p:nvPr/>
        </p:nvSpPr>
        <p:spPr>
          <a:xfrm>
            <a:off x="9166707" y="484784"/>
            <a:ext cx="5669586"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a:lstStyle>
          <a:p>
            <a:pPr/>
            <a:r>
              <a:t>Key Metrics Tracked</a:t>
            </a:r>
          </a:p>
        </p:txBody>
      </p:sp>
      <p:sp>
        <p:nvSpPr>
          <p:cNvPr id="205" name="Line"/>
          <p:cNvSpPr/>
          <p:nvPr/>
        </p:nvSpPr>
        <p:spPr>
          <a:xfrm>
            <a:off x="349034" y="1231112"/>
            <a:ext cx="23609229" cy="115918"/>
          </a:xfrm>
          <a:prstGeom prst="line">
            <a:avLst/>
          </a:prstGeom>
          <a:ln w="25400">
            <a:solidFill>
              <a:srgbClr val="000000"/>
            </a:solidFill>
            <a:miter lim="400000"/>
          </a:ln>
        </p:spPr>
        <p:txBody>
          <a:bodyPr lIns="50800" tIns="50800" rIns="50800" bIns="50800" anchor="ctr"/>
          <a:lstStyle/>
          <a:p>
            <a:pPr/>
          </a:p>
        </p:txBody>
      </p:sp>
      <p:sp>
        <p:nvSpPr>
          <p:cNvPr id="206" name="Total Leads &amp; Deliveries:…"/>
          <p:cNvSpPr txBox="1"/>
          <p:nvPr/>
        </p:nvSpPr>
        <p:spPr>
          <a:xfrm>
            <a:off x="304800" y="1657400"/>
            <a:ext cx="24168100" cy="117728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596900" indent="-596900">
              <a:buSzPct val="123000"/>
              <a:buChar char="•"/>
              <a:defRPr b="1" sz="4700"/>
            </a:pPr>
            <a:r>
              <a:t>Total Leads &amp; Deliveries:</a:t>
            </a:r>
          </a:p>
          <a:p>
            <a:pPr>
              <a:defRPr sz="4700"/>
            </a:pPr>
            <a:r>
              <a:t>	 Tracking incoming customer leads versus successful vehicle deliveries.</a:t>
            </a:r>
          </a:p>
          <a:p>
            <a:pPr marL="596900" indent="-596900">
              <a:buSzPct val="123000"/>
              <a:buChar char="•"/>
              <a:defRPr b="1" sz="4700"/>
            </a:pPr>
            <a:r>
              <a:t>Cancellations &amp; Conversion Rate: </a:t>
            </a:r>
          </a:p>
          <a:p>
            <a:pPr>
              <a:defRPr sz="4700"/>
            </a:pPr>
            <a:r>
              <a:t>	Monitoring lost leads and the percentage of leads that converted into deliveries.</a:t>
            </a:r>
          </a:p>
          <a:p>
            <a:pPr marL="596900" indent="-596900">
              <a:buSzPct val="123000"/>
              <a:buChar char="•"/>
              <a:defRPr b="1" sz="4700"/>
            </a:pPr>
            <a:r>
              <a:t>Average TAT (Turnaround Time):</a:t>
            </a:r>
          </a:p>
          <a:p>
            <a:pPr>
              <a:defRPr sz="4700"/>
            </a:pPr>
            <a:r>
              <a:t>	 Measuring the average time between lead-to-booking and booking-to-delivery.</a:t>
            </a:r>
          </a:p>
          <a:p>
            <a:pPr marL="596900" indent="-596900">
              <a:buSzPct val="123000"/>
              <a:buChar char="•"/>
              <a:defRPr b="1" sz="4700"/>
            </a:pPr>
            <a:r>
              <a:t>Average NPS (Net Promoter Score):</a:t>
            </a:r>
          </a:p>
          <a:p>
            <a:pPr>
              <a:defRPr sz="4700"/>
            </a:pPr>
            <a:r>
              <a:t>	 Assessing overall customer satisfaction ratings.</a:t>
            </a:r>
          </a:p>
          <a:p>
            <a:pPr marL="596900" indent="-596900">
              <a:buSzPct val="123000"/>
              <a:buChar char="•"/>
              <a:defRPr b="1" sz="4700"/>
            </a:pPr>
            <a:r>
              <a:t>Lead Temperature: </a:t>
            </a:r>
          </a:p>
          <a:p>
            <a:pPr>
              <a:defRPr sz="4700"/>
            </a:pPr>
            <a:r>
              <a:t>	Distribution of leads categorized as Hot, Warm, or Cold based on activity.</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METHODOLOGY"/>
          <p:cNvSpPr txBox="1"/>
          <p:nvPr/>
        </p:nvSpPr>
        <p:spPr>
          <a:xfrm>
            <a:off x="9589769" y="484784"/>
            <a:ext cx="4823461"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a:lstStyle>
          <a:p>
            <a:pPr/>
            <a:r>
              <a:t>METHODOLOGY</a:t>
            </a:r>
          </a:p>
        </p:txBody>
      </p:sp>
      <p:sp>
        <p:nvSpPr>
          <p:cNvPr id="209" name="Line"/>
          <p:cNvSpPr/>
          <p:nvPr/>
        </p:nvSpPr>
        <p:spPr>
          <a:xfrm>
            <a:off x="349034" y="1231112"/>
            <a:ext cx="23609229" cy="115918"/>
          </a:xfrm>
          <a:prstGeom prst="line">
            <a:avLst/>
          </a:prstGeom>
          <a:ln w="25400">
            <a:solidFill>
              <a:srgbClr val="000000"/>
            </a:solidFill>
            <a:miter lim="400000"/>
          </a:ln>
        </p:spPr>
        <p:txBody>
          <a:bodyPr lIns="50800" tIns="50800" rIns="50800" bIns="50800" anchor="ctr"/>
          <a:lstStyle/>
          <a:p>
            <a:pPr/>
          </a:p>
        </p:txBody>
      </p:sp>
      <p:pic>
        <p:nvPicPr>
          <p:cNvPr id="210" name="image.png" descr="image.png"/>
          <p:cNvPicPr>
            <a:picLocks noChangeAspect="1"/>
          </p:cNvPicPr>
          <p:nvPr/>
        </p:nvPicPr>
        <p:blipFill>
          <a:blip r:embed="rId2">
            <a:extLst/>
          </a:blip>
          <a:srcRect l="0" t="17170" r="0" b="0"/>
          <a:stretch>
            <a:fillRect/>
          </a:stretch>
        </p:blipFill>
        <p:spPr>
          <a:xfrm>
            <a:off x="452817" y="1985141"/>
            <a:ext cx="23402166" cy="10568402"/>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Visualizing the Lead-to-Delivery Journey"/>
          <p:cNvSpPr txBox="1"/>
          <p:nvPr/>
        </p:nvSpPr>
        <p:spPr>
          <a:xfrm>
            <a:off x="6468922" y="484784"/>
            <a:ext cx="11065156"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a:lstStyle>
          <a:p>
            <a:pPr/>
            <a:r>
              <a:t>Visualizing the Lead-to-Delivery Journey</a:t>
            </a:r>
          </a:p>
        </p:txBody>
      </p:sp>
      <p:sp>
        <p:nvSpPr>
          <p:cNvPr id="213" name="Line"/>
          <p:cNvSpPr/>
          <p:nvPr/>
        </p:nvSpPr>
        <p:spPr>
          <a:xfrm>
            <a:off x="349034" y="1231112"/>
            <a:ext cx="23609229" cy="115918"/>
          </a:xfrm>
          <a:prstGeom prst="line">
            <a:avLst/>
          </a:prstGeom>
          <a:ln w="25400">
            <a:solidFill>
              <a:srgbClr val="000000"/>
            </a:solidFill>
            <a:miter lim="400000"/>
          </a:ln>
        </p:spPr>
        <p:txBody>
          <a:bodyPr lIns="50800" tIns="50800" rIns="50800" bIns="50800" anchor="ctr"/>
          <a:lstStyle/>
          <a:p>
            <a:pPr/>
          </a:p>
        </p:txBody>
      </p:sp>
      <p:pic>
        <p:nvPicPr>
          <p:cNvPr id="214" name="image.png" descr="image.png"/>
          <p:cNvPicPr>
            <a:picLocks noChangeAspect="1"/>
          </p:cNvPicPr>
          <p:nvPr/>
        </p:nvPicPr>
        <p:blipFill>
          <a:blip r:embed="rId2">
            <a:extLst/>
          </a:blip>
          <a:stretch>
            <a:fillRect/>
          </a:stretch>
        </p:blipFill>
        <p:spPr>
          <a:xfrm>
            <a:off x="342900" y="1787707"/>
            <a:ext cx="23558500" cy="10607493"/>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Isolating high-potential leads to prioritize sales efforts"/>
          <p:cNvSpPr txBox="1"/>
          <p:nvPr/>
        </p:nvSpPr>
        <p:spPr>
          <a:xfrm>
            <a:off x="4679137" y="484784"/>
            <a:ext cx="14644727"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a:lstStyle>
          <a:p>
            <a:pPr/>
            <a:r>
              <a:t>Isolating high-potential leads to prioritize sales efforts</a:t>
            </a:r>
          </a:p>
        </p:txBody>
      </p:sp>
      <p:sp>
        <p:nvSpPr>
          <p:cNvPr id="217" name="Line"/>
          <p:cNvSpPr/>
          <p:nvPr/>
        </p:nvSpPr>
        <p:spPr>
          <a:xfrm>
            <a:off x="349034" y="1231112"/>
            <a:ext cx="23609229" cy="115918"/>
          </a:xfrm>
          <a:prstGeom prst="line">
            <a:avLst/>
          </a:prstGeom>
          <a:ln w="25400">
            <a:solidFill>
              <a:srgbClr val="000000"/>
            </a:solidFill>
            <a:miter lim="400000"/>
          </a:ln>
        </p:spPr>
        <p:txBody>
          <a:bodyPr lIns="50800" tIns="50800" rIns="50800" bIns="50800" anchor="ctr"/>
          <a:lstStyle/>
          <a:p>
            <a:pPr/>
          </a:p>
        </p:txBody>
      </p:sp>
      <p:pic>
        <p:nvPicPr>
          <p:cNvPr id="218" name="image.png" descr="image.png"/>
          <p:cNvPicPr>
            <a:picLocks noChangeAspect="1"/>
          </p:cNvPicPr>
          <p:nvPr/>
        </p:nvPicPr>
        <p:blipFill>
          <a:blip r:embed="rId2">
            <a:extLst/>
          </a:blip>
          <a:stretch>
            <a:fillRect/>
          </a:stretch>
        </p:blipFill>
        <p:spPr>
          <a:xfrm>
            <a:off x="512368" y="1968500"/>
            <a:ext cx="23346564" cy="10502900"/>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0" name="FUTURE GOAL"/>
          <p:cNvSpPr txBox="1"/>
          <p:nvPr/>
        </p:nvSpPr>
        <p:spPr>
          <a:xfrm>
            <a:off x="9844582" y="484784"/>
            <a:ext cx="4313836"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a:lstStyle>
          <a:p>
            <a:pPr/>
            <a:r>
              <a:t>FUTURE GOAL</a:t>
            </a:r>
          </a:p>
        </p:txBody>
      </p:sp>
      <p:sp>
        <p:nvSpPr>
          <p:cNvPr id="221" name="Line"/>
          <p:cNvSpPr/>
          <p:nvPr/>
        </p:nvSpPr>
        <p:spPr>
          <a:xfrm>
            <a:off x="349034" y="1231112"/>
            <a:ext cx="23609229" cy="115918"/>
          </a:xfrm>
          <a:prstGeom prst="line">
            <a:avLst/>
          </a:prstGeom>
          <a:ln w="25400">
            <a:solidFill>
              <a:srgbClr val="000000"/>
            </a:solidFill>
            <a:miter lim="400000"/>
          </a:ln>
        </p:spPr>
        <p:txBody>
          <a:bodyPr lIns="50800" tIns="50800" rIns="50800" bIns="50800" anchor="ctr"/>
          <a:lstStyle/>
          <a:p>
            <a:pPr/>
          </a:p>
        </p:txBody>
      </p:sp>
      <p:pic>
        <p:nvPicPr>
          <p:cNvPr id="222" name="image.png" descr="image.png"/>
          <p:cNvPicPr>
            <a:picLocks noChangeAspect="1"/>
          </p:cNvPicPr>
          <p:nvPr/>
        </p:nvPicPr>
        <p:blipFill>
          <a:blip r:embed="rId2">
            <a:extLst/>
          </a:blip>
          <a:stretch>
            <a:fillRect/>
          </a:stretch>
        </p:blipFill>
        <p:spPr>
          <a:xfrm>
            <a:off x="12700" y="50800"/>
            <a:ext cx="24371300" cy="13627100"/>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FUTURE GOAL"/>
          <p:cNvSpPr txBox="1"/>
          <p:nvPr/>
        </p:nvSpPr>
        <p:spPr>
          <a:xfrm>
            <a:off x="9844582" y="484784"/>
            <a:ext cx="4313836"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a:lstStyle>
          <a:p>
            <a:pPr/>
            <a:r>
              <a:t>FUTURE GOAL</a:t>
            </a:r>
          </a:p>
        </p:txBody>
      </p:sp>
      <p:sp>
        <p:nvSpPr>
          <p:cNvPr id="225" name="Line"/>
          <p:cNvSpPr/>
          <p:nvPr/>
        </p:nvSpPr>
        <p:spPr>
          <a:xfrm>
            <a:off x="349034" y="1231112"/>
            <a:ext cx="23609229" cy="115918"/>
          </a:xfrm>
          <a:prstGeom prst="line">
            <a:avLst/>
          </a:prstGeom>
          <a:ln w="25400">
            <a:solidFill>
              <a:srgbClr val="000000"/>
            </a:solidFill>
            <a:miter lim="400000"/>
          </a:ln>
        </p:spPr>
        <p:txBody>
          <a:bodyPr lIns="50800" tIns="50800" rIns="50800" bIns="50800" anchor="ctr"/>
          <a:lstStyle/>
          <a:p>
            <a:pPr/>
          </a:p>
        </p:txBody>
      </p:sp>
      <p:pic>
        <p:nvPicPr>
          <p:cNvPr id="226" name="image.png" descr="image.png"/>
          <p:cNvPicPr>
            <a:picLocks noChangeAspect="1"/>
          </p:cNvPicPr>
          <p:nvPr/>
        </p:nvPicPr>
        <p:blipFill>
          <a:blip r:embed="rId2">
            <a:extLst/>
          </a:blip>
          <a:stretch>
            <a:fillRect/>
          </a:stretch>
        </p:blipFill>
        <p:spPr>
          <a:xfrm>
            <a:off x="6246" y="-118593"/>
            <a:ext cx="24079407" cy="13870742"/>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FUTURE GOAL"/>
          <p:cNvSpPr txBox="1"/>
          <p:nvPr/>
        </p:nvSpPr>
        <p:spPr>
          <a:xfrm>
            <a:off x="9844582" y="484784"/>
            <a:ext cx="4313836"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a:lstStyle>
          <a:p>
            <a:pPr/>
            <a:r>
              <a:t>FUTURE GOAL</a:t>
            </a:r>
          </a:p>
        </p:txBody>
      </p:sp>
      <p:sp>
        <p:nvSpPr>
          <p:cNvPr id="229" name="Line"/>
          <p:cNvSpPr/>
          <p:nvPr/>
        </p:nvSpPr>
        <p:spPr>
          <a:xfrm>
            <a:off x="349034" y="1231112"/>
            <a:ext cx="23609229" cy="115918"/>
          </a:xfrm>
          <a:prstGeom prst="line">
            <a:avLst/>
          </a:prstGeom>
          <a:ln w="25400">
            <a:solidFill>
              <a:srgbClr val="000000"/>
            </a:solidFill>
            <a:miter lim="400000"/>
          </a:ln>
        </p:spPr>
        <p:txBody>
          <a:bodyPr lIns="50800" tIns="50800" rIns="50800" bIns="50800" anchor="ctr"/>
          <a:lstStyle/>
          <a:p>
            <a:pPr/>
          </a:p>
        </p:txBody>
      </p:sp>
      <p:pic>
        <p:nvPicPr>
          <p:cNvPr id="230" name="image.png" descr="image.png"/>
          <p:cNvPicPr>
            <a:picLocks noChangeAspect="1"/>
          </p:cNvPicPr>
          <p:nvPr/>
        </p:nvPicPr>
        <p:blipFill>
          <a:blip r:embed="rId2">
            <a:extLst/>
          </a:blip>
          <a:stretch>
            <a:fillRect/>
          </a:stretch>
        </p:blipFill>
        <p:spPr>
          <a:xfrm>
            <a:off x="-414049" y="8457"/>
            <a:ext cx="24798049" cy="13970001"/>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FUTURE GOAL"/>
          <p:cNvSpPr txBox="1"/>
          <p:nvPr/>
        </p:nvSpPr>
        <p:spPr>
          <a:xfrm>
            <a:off x="9844582" y="484784"/>
            <a:ext cx="4313836"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a:lstStyle>
          <a:p>
            <a:pPr/>
            <a:r>
              <a:t>FUTURE GOAL</a:t>
            </a:r>
          </a:p>
        </p:txBody>
      </p:sp>
      <p:sp>
        <p:nvSpPr>
          <p:cNvPr id="233" name="Line"/>
          <p:cNvSpPr/>
          <p:nvPr/>
        </p:nvSpPr>
        <p:spPr>
          <a:xfrm>
            <a:off x="349034" y="1231112"/>
            <a:ext cx="23609229" cy="115918"/>
          </a:xfrm>
          <a:prstGeom prst="line">
            <a:avLst/>
          </a:prstGeom>
          <a:ln w="25400">
            <a:solidFill>
              <a:srgbClr val="000000"/>
            </a:solidFill>
            <a:miter lim="400000"/>
          </a:ln>
        </p:spPr>
        <p:txBody>
          <a:bodyPr lIns="50800" tIns="50800" rIns="50800" bIns="50800" anchor="ctr"/>
          <a:lstStyle/>
          <a:p>
            <a:pPr/>
          </a:p>
        </p:txBody>
      </p:sp>
      <p:pic>
        <p:nvPicPr>
          <p:cNvPr id="234" name="image.png" descr="image.png"/>
          <p:cNvPicPr>
            <a:picLocks noChangeAspect="1"/>
          </p:cNvPicPr>
          <p:nvPr/>
        </p:nvPicPr>
        <p:blipFill>
          <a:blip r:embed="rId2">
            <a:extLst/>
          </a:blip>
          <a:stretch>
            <a:fillRect/>
          </a:stretch>
        </p:blipFill>
        <p:spPr>
          <a:xfrm>
            <a:off x="-381000" y="-304429"/>
            <a:ext cx="24765000" cy="14569171"/>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6" name="CONCLUSION"/>
          <p:cNvSpPr txBox="1"/>
          <p:nvPr/>
        </p:nvSpPr>
        <p:spPr>
          <a:xfrm>
            <a:off x="9934803" y="484784"/>
            <a:ext cx="4133394"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a:lstStyle>
          <a:p>
            <a:pPr/>
            <a:r>
              <a:t>CONCLUSION</a:t>
            </a:r>
          </a:p>
        </p:txBody>
      </p:sp>
      <p:sp>
        <p:nvSpPr>
          <p:cNvPr id="237" name="Line"/>
          <p:cNvSpPr/>
          <p:nvPr/>
        </p:nvSpPr>
        <p:spPr>
          <a:xfrm>
            <a:off x="349034" y="1231112"/>
            <a:ext cx="23609229" cy="115918"/>
          </a:xfrm>
          <a:prstGeom prst="line">
            <a:avLst/>
          </a:prstGeom>
          <a:ln w="25400">
            <a:solidFill>
              <a:srgbClr val="000000"/>
            </a:solidFill>
            <a:miter lim="400000"/>
          </a:ln>
        </p:spPr>
        <p:txBody>
          <a:bodyPr lIns="50800" tIns="50800" rIns="50800" bIns="50800" anchor="ctr"/>
          <a:lstStyle/>
          <a:p>
            <a:pPr/>
          </a:p>
        </p:txBody>
      </p:sp>
      <p:sp>
        <p:nvSpPr>
          <p:cNvPr id="238" name="Key Insights…"/>
          <p:cNvSpPr txBox="1"/>
          <p:nvPr/>
        </p:nvSpPr>
        <p:spPr>
          <a:xfrm>
            <a:off x="342900" y="2042639"/>
            <a:ext cx="13676173" cy="91735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b="1" sz="2800"/>
            </a:pPr>
            <a:r>
              <a:t>Key Insights</a:t>
            </a:r>
          </a:p>
          <a:p>
            <a:pPr>
              <a:defRPr sz="2800"/>
            </a:pPr>
            <a:r>
              <a:t>• Overall conversion: 72.9% (1,000 → 812 → 729).</a:t>
            </a:r>
          </a:p>
          <a:p>
            <a:pPr>
              <a:defRPr sz="2800"/>
            </a:pPr>
            <a:r>
              <a:t>Mumbai highest (76%), Delhi lowest (70.7%).</a:t>
            </a:r>
          </a:p>
          <a:p>
            <a:pPr>
              <a:defRPr sz="2800"/>
            </a:pPr>
            <a:r>
              <a:t>• Main drop-off: Pre-Booking (81.2%) due to slow manual follow-ups.</a:t>
            </a:r>
          </a:p>
          <a:p>
            <a:pPr>
              <a:defRPr sz="2800"/>
            </a:pPr>
            <a:r>
              <a:t>• Avg. TAT: 10.6 days → Delivery stage (4.5 days) is key delay.</a:t>
            </a:r>
          </a:p>
          <a:p>
            <a:pPr>
              <a:defRPr sz="2800"/>
            </a:pPr>
            <a:r>
              <a:t>Chennai slowest; Delhi fastest.</a:t>
            </a:r>
          </a:p>
          <a:p>
            <a:pPr>
              <a:defRPr sz="2800"/>
            </a:pPr>
            <a:r>
              <a:t>• Cancellations: 27% — top causes: Price 24%, Financing 23%, Changed Mind 20%.</a:t>
            </a:r>
          </a:p>
          <a:p>
            <a:pPr>
              <a:defRPr sz="2800"/>
            </a:pPr>
            <a:r>
              <a:t>• NPS: -53.5 overall; all stores negative. Chennai slightly better.</a:t>
            </a:r>
          </a:p>
          <a:p>
            <a:pPr>
              <a:defRPr sz="2800"/>
            </a:pPr>
            <a:r>
              <a:t>• Lead mix: 51% Warm, 30% Hot — Warm segment under-leveraged.</a:t>
            </a:r>
          </a:p>
          <a:p>
            <a:pPr>
              <a:defRPr sz="2800"/>
            </a:pPr>
            <a:r>
              <a:t>.</a:t>
            </a:r>
          </a:p>
        </p:txBody>
      </p:sp>
      <p:sp>
        <p:nvSpPr>
          <p:cNvPr id="239" name="Remedies…"/>
          <p:cNvSpPr txBox="1"/>
          <p:nvPr/>
        </p:nvSpPr>
        <p:spPr>
          <a:xfrm>
            <a:off x="14986000" y="1850144"/>
            <a:ext cx="8966200" cy="51897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b="1" sz="2600"/>
            </a:pPr>
            <a:r>
              <a:t>Remedies</a:t>
            </a:r>
          </a:p>
          <a:p>
            <a:pPr>
              <a:defRPr sz="2600"/>
            </a:pPr>
            <a:r>
              <a:t>• Automate CRM &amp; lead scoring (focus Hot/Warm).</a:t>
            </a:r>
          </a:p>
          <a:p>
            <a:pPr>
              <a:defRPr sz="2600"/>
            </a:pPr>
            <a:r>
              <a:t>• Digitize pre-booking + instant confirmation.</a:t>
            </a:r>
          </a:p>
          <a:p>
            <a:pPr>
              <a:defRPr sz="2600"/>
            </a:pPr>
            <a:r>
              <a:t>• Standardize 10-day delivery SOP; live TAT dashboard.</a:t>
            </a:r>
          </a:p>
          <a:p>
            <a:pPr>
              <a:defRPr sz="2600"/>
            </a:pPr>
            <a:r>
              <a:t>• NBFC tie-ups for quick finance approvals.</a:t>
            </a:r>
          </a:p>
          <a:p>
            <a:pPr>
              <a:defRPr sz="2600"/>
            </a:pPr>
            <a:r>
              <a:t>• 7-day NPS follow-up calls &amp; service reminders</a:t>
            </a:r>
          </a:p>
        </p:txBody>
      </p:sp>
      <p:sp>
        <p:nvSpPr>
          <p:cNvPr id="240" name="Reasons…"/>
          <p:cNvSpPr txBox="1"/>
          <p:nvPr/>
        </p:nvSpPr>
        <p:spPr>
          <a:xfrm>
            <a:off x="14655800" y="7533571"/>
            <a:ext cx="9296400" cy="532905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b="1" sz="2800"/>
            </a:pPr>
            <a:r>
              <a:t>Reasons</a:t>
            </a:r>
          </a:p>
          <a:p>
            <a:pPr>
              <a:defRPr sz="2800"/>
            </a:pPr>
            <a:r>
              <a:t>1. Manual pre-booking &amp; unprioritized lead follow-ups.</a:t>
            </a:r>
          </a:p>
          <a:p>
            <a:pPr>
              <a:defRPr sz="2800"/>
            </a:pPr>
            <a:r>
              <a:t>2. Delivery process not standardized across stores.</a:t>
            </a:r>
          </a:p>
          <a:p>
            <a:pPr>
              <a:defRPr sz="2800"/>
            </a:pPr>
            <a:r>
              <a:t>3. Financing delays, unclear EMI options.</a:t>
            </a:r>
          </a:p>
          <a:p>
            <a:pPr>
              <a:defRPr sz="2800"/>
            </a:pPr>
            <a:r>
              <a:t>4. Weak post-delivery engagement → low NPS.</a:t>
            </a:r>
          </a:p>
        </p:txBody>
      </p:sp>
      <p:sp>
        <p:nvSpPr>
          <p:cNvPr id="241" name="Line"/>
          <p:cNvSpPr/>
          <p:nvPr/>
        </p:nvSpPr>
        <p:spPr>
          <a:xfrm flipV="1">
            <a:off x="14135849" y="1676400"/>
            <a:ext cx="203290" cy="10718103"/>
          </a:xfrm>
          <a:prstGeom prst="line">
            <a:avLst/>
          </a:prstGeom>
          <a:ln w="25400">
            <a:solidFill>
              <a:srgbClr val="000000"/>
            </a:solidFill>
            <a:miter lim="400000"/>
          </a:ln>
        </p:spPr>
        <p:txBody>
          <a:bodyPr lIns="50800" tIns="50800" rIns="50800" bIns="50800" anchor="ctr"/>
          <a:lstStyle/>
          <a:p>
            <a:pP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Line"/>
          <p:cNvSpPr/>
          <p:nvPr/>
        </p:nvSpPr>
        <p:spPr>
          <a:xfrm>
            <a:off x="349034" y="1231112"/>
            <a:ext cx="23609229" cy="115918"/>
          </a:xfrm>
          <a:prstGeom prst="line">
            <a:avLst/>
          </a:prstGeom>
          <a:ln w="25400">
            <a:solidFill>
              <a:srgbClr val="000000"/>
            </a:solidFill>
            <a:miter lim="400000"/>
          </a:ln>
        </p:spPr>
        <p:txBody>
          <a:bodyPr lIns="50800" tIns="50800" rIns="50800" bIns="50800" anchor="ctr"/>
          <a:lstStyle/>
          <a:p>
            <a:pPr/>
          </a:p>
        </p:txBody>
      </p:sp>
      <p:sp>
        <p:nvSpPr>
          <p:cNvPr id="244" name="THANK YOU"/>
          <p:cNvSpPr txBox="1"/>
          <p:nvPr>
            <p:ph type="ctrTitle"/>
          </p:nvPr>
        </p:nvSpPr>
        <p:spPr>
          <a:prstGeom prst="rect">
            <a:avLst/>
          </a:prstGeom>
        </p:spPr>
        <p:txBody>
          <a:bodyPr/>
          <a:lstStyle/>
          <a:p>
            <a:pPr/>
            <a:r>
              <a:t>THANK YOU </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